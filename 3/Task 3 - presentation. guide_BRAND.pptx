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4778" r:id="rId2"/>
    <p:sldId id="1010" r:id="rId3"/>
    <p:sldId id="4780" r:id="rId4"/>
    <p:sldId id="4779" r:id="rId5"/>
    <p:sldId id="4781" r:id="rId6"/>
    <p:sldId id="4782" r:id="rId7"/>
    <p:sldId id="4783" r:id="rId8"/>
    <p:sldId id="4784" r:id="rId9"/>
    <p:sldId id="4785" r:id="rId10"/>
    <p:sldId id="4786" r:id="rId11"/>
    <p:sldId id="275" r:id="rId12"/>
  </p:sldIdLst>
  <p:sldSz cx="12192000" cy="6858000"/>
  <p:notesSz cx="6858000" cy="9144000"/>
  <p:embeddedFontLst>
    <p:embeddedFont>
      <p:font typeface="Roboto" panose="02000000000000000000" pitchFamily="2" charset="0"/>
      <p:regular r:id="rId14"/>
      <p:bold r:id="rId15"/>
      <p:italic r:id="rId16"/>
      <p:boldItalic r:id="rId17"/>
    </p:embeddedFont>
    <p:embeddedFont>
      <p:font typeface="Roboto Light" panose="02000000000000000000" pitchFamily="2" charset="0"/>
      <p:regular r:id="rId18"/>
      <p:italic r:id="rId19"/>
    </p:embeddedFont>
    <p:embeddedFont>
      <p:font typeface="Roboto Medium" panose="02000000000000000000" pitchFamily="2" charset="0"/>
      <p:regular r:id="rId20"/>
      <p:italic r:id="rId21"/>
    </p:embeddedFont>
    <p:embeddedFont>
      <p:font typeface="Segoe UI Variable Text" pitchFamily="2"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66" d="100"/>
          <a:sy n="66" d="100"/>
        </p:scale>
        <p:origin x="58" y="106"/>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1/04/2026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11</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r>
              <a:rPr lang="en-IN" dirty="0"/>
              <a:t>Prepared by </a:t>
            </a:r>
          </a:p>
          <a:p>
            <a:r>
              <a:rPr lang="en-IN" dirty="0"/>
              <a:t>Mukul Dimri</a:t>
            </a:r>
          </a:p>
          <a:p>
            <a:r>
              <a:rPr lang="en-IN" dirty="0"/>
              <a:t> </a:t>
            </a:r>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IN" dirty="0"/>
              <a:t>April 2026</a:t>
            </a:r>
            <a:endParaRPr lang="en-AU" dirty="0"/>
          </a:p>
          <a:p>
            <a:endParaRPr lang="en-AU" dirty="0"/>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r>
              <a:rPr lang="en-AU" sz="1400" dirty="0">
                <a:latin typeface="Roboto" panose="02000000000000000000" pitchFamily="2" charset="0"/>
                <a:ea typeface="Roboto" panose="02000000000000000000" pitchFamily="2" charset="0"/>
                <a:cs typeface="Roboto" panose="02000000000000000000" pitchFamily="2" charset="0"/>
              </a:rPr>
              <a:t>Task 1-  </a:t>
            </a:r>
            <a:r>
              <a:rPr lang="en-IN" sz="1400" dirty="0"/>
              <a:t>Customer Purchasing Behaviour</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r>
              <a:rPr lang="en-AU" sz="1400" dirty="0">
                <a:latin typeface="Roboto" panose="02000000000000000000" pitchFamily="2" charset="0"/>
                <a:ea typeface="Roboto" panose="02000000000000000000" pitchFamily="2" charset="0"/>
                <a:cs typeface="Roboto" panose="02000000000000000000" pitchFamily="2" charset="0"/>
              </a:rPr>
              <a:t>Task 2 - </a:t>
            </a:r>
            <a:r>
              <a:rPr lang="en-IN" sz="1400" dirty="0"/>
              <a:t>Trial Store Performance</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7C949C27-3E05-4AA4-A1A8-5696F6F3C356}"/>
              </a:ext>
            </a:extLst>
          </p:cNvPr>
          <p:cNvSpPr txBox="1"/>
          <p:nvPr/>
        </p:nvSpPr>
        <p:spPr>
          <a:xfrm>
            <a:off x="4095585" y="1967887"/>
            <a:ext cx="7580989" cy="1718742"/>
          </a:xfrm>
          <a:prstGeom prst="rect">
            <a:avLst/>
          </a:prstGeom>
          <a:noFill/>
        </p:spPr>
        <p:txBody>
          <a:bodyPr wrap="square" lIns="0" tIns="0" rIns="0" bIns="0" rtlCol="0" anchor="t">
            <a:noAutofit/>
          </a:bodyPr>
          <a:lstStyle/>
          <a:p>
            <a:r>
              <a:rPr lang="en-US" sz="1200" dirty="0"/>
              <a:t>Analysis of chip purchasing </a:t>
            </a:r>
            <a:r>
              <a:rPr lang="en-US" sz="1200" dirty="0" err="1"/>
              <a:t>behaviour</a:t>
            </a:r>
            <a:r>
              <a:rPr lang="en-US" sz="1200" dirty="0"/>
              <a:t> shows that </a:t>
            </a:r>
            <a:r>
              <a:rPr lang="en-US" sz="1200" b="1" dirty="0"/>
              <a:t>young singles/couples and older families</a:t>
            </a:r>
            <a:r>
              <a:rPr lang="en-US" sz="1200" dirty="0"/>
              <a:t> are the key drivers of sales within the category. These customer groups purchase chips more frequently and generate the highest revenue. Medium sized pack options (150g–175g) are the most popular products across most segments.</a:t>
            </a:r>
            <a:endParaRPr lang="en-AU" sz="1200" dirty="0">
              <a:latin typeface="Roboto Light" panose="02000000000000000000" pitchFamily="2" charset="0"/>
              <a:ea typeface="Roboto Light" panose="02000000000000000000" pitchFamily="2" charset="0"/>
            </a:endParaRP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7580989" cy="1718742"/>
          </a:xfrm>
          <a:prstGeom prst="rect">
            <a:avLst/>
          </a:prstGeom>
          <a:noFill/>
        </p:spPr>
        <p:txBody>
          <a:bodyPr wrap="square" lIns="0" tIns="0" rIns="0" bIns="0" rtlCol="0" anchor="t">
            <a:noAutofit/>
          </a:bodyPr>
          <a:lstStyle/>
          <a:p>
            <a:r>
              <a:rPr lang="en-US" sz="1200" dirty="0"/>
              <a:t>Trial stores </a:t>
            </a:r>
            <a:r>
              <a:rPr lang="en-US" sz="1200" b="1" dirty="0"/>
              <a:t>77, 86 and 88</a:t>
            </a:r>
            <a:r>
              <a:rPr lang="en-US" sz="1200" dirty="0"/>
              <a:t> were compared against similar control stores using sales and customer metrics. The trial stores demonstrated </a:t>
            </a:r>
            <a:r>
              <a:rPr lang="en-US" sz="1200" b="1" dirty="0"/>
              <a:t>stronger sales growth during the trial period</a:t>
            </a:r>
            <a:r>
              <a:rPr lang="en-US" sz="1200" dirty="0"/>
              <a:t>, suggesting the new store layout positively influenced chip purchasing </a:t>
            </a:r>
            <a:r>
              <a:rPr lang="en-US" sz="1200" dirty="0" err="1"/>
              <a:t>behaviour</a:t>
            </a:r>
            <a:r>
              <a:rPr lang="en-US" sz="1200" dirty="0"/>
              <a:t>.</a:t>
            </a:r>
          </a:p>
          <a:p>
            <a:endParaRPr lang="en-AU" sz="1200"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a:t>Category</a:t>
            </a:r>
            <a:endParaRPr lang="en-AU" dirty="0"/>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914400" y="453371"/>
            <a:ext cx="10762175" cy="955704"/>
          </a:xfrm>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The chip category is driven by frequent shoppers, particularly </a:t>
            </a:r>
            <a:r>
              <a:rPr lang="en-US" sz="2000" b="1" dirty="0">
                <a:latin typeface="Calibri" panose="020F0502020204030204" pitchFamily="34" charset="0"/>
                <a:ea typeface="Calibri" panose="020F0502020204030204" pitchFamily="34" charset="0"/>
                <a:cs typeface="Calibri" panose="020F0502020204030204" pitchFamily="34" charset="0"/>
              </a:rPr>
              <a:t>young singles/couples and family households</a:t>
            </a:r>
            <a:r>
              <a:rPr lang="en-US" sz="2000" dirty="0">
                <a:latin typeface="Calibri" panose="020F0502020204030204" pitchFamily="34" charset="0"/>
                <a:ea typeface="Calibri" panose="020F0502020204030204" pitchFamily="34" charset="0"/>
                <a:cs typeface="Calibri" panose="020F0502020204030204" pitchFamily="34" charset="0"/>
              </a:rPr>
              <a:t>.</a:t>
            </a:r>
          </a:p>
          <a:p>
            <a:r>
              <a:rPr lang="en-US" sz="2000" dirty="0">
                <a:latin typeface="Calibri" panose="020F0502020204030204" pitchFamily="34" charset="0"/>
                <a:ea typeface="Calibri" panose="020F0502020204030204" pitchFamily="34" charset="0"/>
                <a:cs typeface="Calibri" panose="020F0502020204030204" pitchFamily="34" charset="0"/>
              </a:rPr>
              <a:t>These customers purchase chips regularly as part of grocery shopping.</a:t>
            </a:r>
          </a:p>
          <a:p>
            <a:r>
              <a:rPr lang="en-US" sz="2000" dirty="0">
                <a:latin typeface="Calibri" panose="020F0502020204030204" pitchFamily="34" charset="0"/>
                <a:ea typeface="Calibri" panose="020F0502020204030204" pitchFamily="34" charset="0"/>
                <a:cs typeface="Calibri" panose="020F0502020204030204" pitchFamily="34" charset="0"/>
              </a:rPr>
              <a:t>Sales are strongest for </a:t>
            </a:r>
            <a:r>
              <a:rPr lang="en-US" sz="2000" b="1" dirty="0">
                <a:latin typeface="Calibri" panose="020F0502020204030204" pitchFamily="34" charset="0"/>
                <a:ea typeface="Calibri" panose="020F0502020204030204" pitchFamily="34" charset="0"/>
                <a:cs typeface="Calibri" panose="020F0502020204030204" pitchFamily="34" charset="0"/>
              </a:rPr>
              <a:t>mid-sized packs (150g–175g)</a:t>
            </a:r>
            <a:r>
              <a:rPr lang="en-US" sz="2000" dirty="0">
                <a:latin typeface="Calibri" panose="020F0502020204030204" pitchFamily="34" charset="0"/>
                <a:ea typeface="Calibri" panose="020F0502020204030204" pitchFamily="34" charset="0"/>
                <a:cs typeface="Calibri" panose="020F0502020204030204" pitchFamily="34" charset="0"/>
              </a:rPr>
              <a:t> which appear to best match customer consumption preferences.</a:t>
            </a:r>
          </a:p>
          <a:p>
            <a:r>
              <a:rPr lang="en-US" dirty="0">
                <a:solidFill>
                  <a:srgbClr val="FFFFFF"/>
                </a:solidFill>
                <a:latin typeface="Segoe UI Variable Text" pitchFamily="2" charset="0"/>
              </a:rPr>
              <a:t>hip category is driven by frequent </a:t>
            </a:r>
            <a:r>
              <a:rPr lang="en-US" b="1" dirty="0">
                <a:solidFill>
                  <a:srgbClr val="FFFFFF"/>
                </a:solidFill>
                <a:latin typeface="Segoe UI Variable Text" pitchFamily="2" charset="0"/>
              </a:rPr>
              <a:t>shoppers</a:t>
            </a:r>
            <a:r>
              <a:rPr lang="en-US" dirty="0">
                <a:solidFill>
                  <a:srgbClr val="FFFFFF"/>
                </a:solidFill>
                <a:latin typeface="Segoe UI Variable Text" pitchFamily="2" charset="0"/>
              </a:rPr>
              <a:t>, particularly </a:t>
            </a:r>
            <a:r>
              <a:rPr lang="en-US" b="1" dirty="0">
                <a:solidFill>
                  <a:srgbClr val="FFFFFF"/>
                </a:solidFill>
                <a:latin typeface="Segoe UI Variable Text" pitchFamily="2" charset="0"/>
              </a:rPr>
              <a:t>young singles/couples and family households</a:t>
            </a:r>
            <a:r>
              <a:rPr lang="en-US" dirty="0">
                <a:solidFill>
                  <a:srgbClr val="FFFFFF"/>
                </a:solidFill>
                <a:latin typeface="Segoe UI Variable Text" pitchFamily="2" charset="0"/>
              </a:rPr>
              <a:t>.</a:t>
            </a:r>
          </a:p>
          <a:p>
            <a:r>
              <a:rPr lang="en-US" dirty="0">
                <a:solidFill>
                  <a:srgbClr val="FFFFFF"/>
                </a:solidFill>
                <a:latin typeface="Segoe UI Variable Text" pitchFamily="2" charset="0"/>
              </a:rPr>
              <a:t>These customers purchase chips regularly as part of grocery shopping.</a:t>
            </a:r>
          </a:p>
          <a:p>
            <a:r>
              <a:rPr lang="en-US" dirty="0">
                <a:solidFill>
                  <a:srgbClr val="FFFFFF"/>
                </a:solidFill>
                <a:latin typeface="Segoe UI Variable Text" pitchFamily="2" charset="0"/>
              </a:rPr>
              <a:t>Sales are strongest for </a:t>
            </a:r>
            <a:r>
              <a:rPr lang="en-US" b="1" dirty="0">
                <a:solidFill>
                  <a:srgbClr val="FFFFFF"/>
                </a:solidFill>
                <a:latin typeface="Segoe UI Variable Text" pitchFamily="2" charset="0"/>
              </a:rPr>
              <a:t>mid-sized packs (150g–175g)</a:t>
            </a:r>
            <a:r>
              <a:rPr lang="en-US" dirty="0">
                <a:solidFill>
                  <a:srgbClr val="FFFFFF"/>
                </a:solidFill>
                <a:latin typeface="Segoe UI Variable Text" pitchFamily="2" charset="0"/>
              </a:rPr>
              <a:t> which appear to best match customer consumption preferences.</a:t>
            </a:r>
          </a:p>
          <a:p>
            <a:endParaRPr lang="en-AU" dirty="0"/>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sp>
        <p:nvSpPr>
          <p:cNvPr id="10" name="Text Placeholder 9">
            <a:extLst>
              <a:ext uri="{FF2B5EF4-FFF2-40B4-BE49-F238E27FC236}">
                <a16:creationId xmlns:a16="http://schemas.microsoft.com/office/drawing/2014/main" id="{721C3255-F225-6A7C-0B41-C9B75D53F3C4}"/>
              </a:ext>
            </a:extLst>
          </p:cNvPr>
          <p:cNvSpPr>
            <a:spLocks noGrp="1"/>
          </p:cNvSpPr>
          <p:nvPr>
            <p:ph type="body" sz="quarter" idx="10"/>
          </p:nvPr>
        </p:nvSpPr>
        <p:spPr>
          <a:xfrm>
            <a:off x="1196975" y="453371"/>
            <a:ext cx="10479600" cy="3504032"/>
          </a:xfrm>
        </p:spPr>
        <p:txBody>
          <a:bodyPr/>
          <a:lstStyle/>
          <a:p>
            <a:r>
              <a:rPr lang="en-US" dirty="0"/>
              <a:t>Customer purchasing </a:t>
            </a:r>
            <a:r>
              <a:rPr lang="en-US" dirty="0" err="1"/>
              <a:t>behaviour</a:t>
            </a:r>
            <a:r>
              <a:rPr lang="en-US" dirty="0"/>
              <a:t> varies across affluence segments.</a:t>
            </a:r>
          </a:p>
          <a:p>
            <a:r>
              <a:rPr lang="en-US" b="1" dirty="0"/>
              <a:t>Mainstream and premium customers</a:t>
            </a:r>
            <a:r>
              <a:rPr lang="en-US" dirty="0"/>
              <a:t> generate the highest sales value and tend to purchase larger pack sizes and well-known brands.</a:t>
            </a:r>
          </a:p>
          <a:p>
            <a:r>
              <a:rPr lang="en-US" dirty="0"/>
              <a:t>Budget customers still contribute to category sales but typically choose </a:t>
            </a:r>
            <a:r>
              <a:rPr lang="en-US" b="1" dirty="0"/>
              <a:t>smaller or lower priced </a:t>
            </a:r>
            <a:r>
              <a:rPr lang="en-US" sz="2000" b="1" dirty="0">
                <a:latin typeface="Calibri" panose="020F0502020204030204" pitchFamily="34" charset="0"/>
                <a:ea typeface="Calibri" panose="020F0502020204030204" pitchFamily="34" charset="0"/>
                <a:cs typeface="Calibri" panose="020F0502020204030204" pitchFamily="34" charset="0"/>
              </a:rPr>
              <a:t>options</a:t>
            </a:r>
            <a:r>
              <a:rPr lang="en-US" dirty="0"/>
              <a:t>.</a:t>
            </a:r>
          </a:p>
          <a:p>
            <a:endParaRPr lang="en-IN" dirty="0"/>
          </a:p>
        </p:txBody>
      </p:sp>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453370"/>
            <a:ext cx="10479600" cy="3593973"/>
          </a:xfrm>
        </p:spPr>
        <p:txBody>
          <a:bodyPr/>
          <a:lstStyle/>
          <a:p>
            <a:r>
              <a:rPr lang="en-US" dirty="0"/>
              <a:t>The largest proportion of chip customers belong to </a:t>
            </a:r>
            <a:r>
              <a:rPr lang="en-US" b="1" dirty="0"/>
              <a:t>young singles/couples and older families</a:t>
            </a:r>
            <a:r>
              <a:rPr lang="en-US" dirty="0"/>
              <a:t>.</a:t>
            </a:r>
          </a:p>
          <a:p>
            <a:r>
              <a:rPr lang="en-US" dirty="0"/>
              <a:t>Across these groups, </a:t>
            </a:r>
            <a:r>
              <a:rPr lang="en-US" b="1" dirty="0"/>
              <a:t>mainstream shoppers represent the largest share</a:t>
            </a:r>
            <a:r>
              <a:rPr lang="en-US" dirty="0"/>
              <a:t>, followed by premium customers.</a:t>
            </a:r>
          </a:p>
          <a:p>
            <a:r>
              <a:rPr lang="en-US" dirty="0"/>
              <a:t>Understanding this distribution helps target marketing and promotional strategies more effectively.</a:t>
            </a:r>
          </a:p>
          <a:p>
            <a:endParaRPr lang="en-AU" dirty="0"/>
          </a:p>
        </p:txBody>
      </p:sp>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453370"/>
            <a:ext cx="10479600" cy="3923757"/>
          </a:xfrm>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Trial stores </a:t>
            </a:r>
            <a:r>
              <a:rPr lang="en-US" sz="2000" b="1" dirty="0">
                <a:latin typeface="Calibri" panose="020F0502020204030204" pitchFamily="34" charset="0"/>
                <a:ea typeface="Calibri" panose="020F0502020204030204" pitchFamily="34" charset="0"/>
                <a:cs typeface="Calibri" panose="020F0502020204030204" pitchFamily="34" charset="0"/>
              </a:rPr>
              <a:t>77, 86 and 88</a:t>
            </a:r>
            <a:r>
              <a:rPr lang="en-US" sz="2000" dirty="0">
                <a:latin typeface="Calibri" panose="020F0502020204030204" pitchFamily="34" charset="0"/>
                <a:ea typeface="Calibri" panose="020F0502020204030204" pitchFamily="34" charset="0"/>
                <a:cs typeface="Calibri" panose="020F0502020204030204" pitchFamily="34" charset="0"/>
              </a:rPr>
              <a:t> were compared against control stores with similar historical sales patterns.</a:t>
            </a:r>
          </a:p>
          <a:p>
            <a:r>
              <a:rPr lang="en-US" sz="2000" dirty="0">
                <a:latin typeface="Calibri" panose="020F0502020204030204" pitchFamily="34" charset="0"/>
                <a:ea typeface="Calibri" panose="020F0502020204030204" pitchFamily="34" charset="0"/>
                <a:cs typeface="Calibri" panose="020F0502020204030204" pitchFamily="34" charset="0"/>
              </a:rPr>
              <a:t>Metrics used for comparison included:</a:t>
            </a:r>
          </a:p>
          <a:p>
            <a:r>
              <a:rPr lang="en-US" sz="2000" dirty="0">
                <a:latin typeface="Calibri" panose="020F0502020204030204" pitchFamily="34" charset="0"/>
                <a:ea typeface="Calibri" panose="020F0502020204030204" pitchFamily="34" charset="0"/>
                <a:cs typeface="Calibri" panose="020F0502020204030204" pitchFamily="34" charset="0"/>
              </a:rPr>
              <a:t>• total sales revenue</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 number of customers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 transactions per customer</a:t>
            </a:r>
          </a:p>
          <a:p>
            <a:r>
              <a:rPr lang="en-US" sz="2000" dirty="0">
                <a:latin typeface="Calibri" panose="020F0502020204030204" pitchFamily="34" charset="0"/>
                <a:ea typeface="Calibri" panose="020F0502020204030204" pitchFamily="34" charset="0"/>
                <a:cs typeface="Calibri" panose="020F0502020204030204" pitchFamily="34" charset="0"/>
              </a:rPr>
              <a:t>This method helps isolate the impact of the trial store layout.</a:t>
            </a:r>
          </a:p>
          <a:p>
            <a:endParaRPr lang="en-AU" sz="20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453370"/>
            <a:ext cx="10479600" cy="2975629"/>
          </a:xfrm>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Sales performance during the trial period was higher in the trial stores compared with their control stores.</a:t>
            </a:r>
          </a:p>
          <a:p>
            <a:r>
              <a:rPr lang="en-US" sz="2000" dirty="0">
                <a:latin typeface="Calibri" panose="020F0502020204030204" pitchFamily="34" charset="0"/>
                <a:ea typeface="Calibri" panose="020F0502020204030204" pitchFamily="34" charset="0"/>
                <a:cs typeface="Calibri" panose="020F0502020204030204" pitchFamily="34" charset="0"/>
              </a:rPr>
              <a:t>This uplift suggests the new store layout improved product visibility and encouraged additional chip purchases.</a:t>
            </a:r>
          </a:p>
          <a:p>
            <a:r>
              <a:rPr lang="en-US" sz="2000" dirty="0">
                <a:latin typeface="Calibri" panose="020F0502020204030204" pitchFamily="34" charset="0"/>
                <a:ea typeface="Calibri" panose="020F0502020204030204" pitchFamily="34" charset="0"/>
                <a:cs typeface="Calibri" panose="020F0502020204030204" pitchFamily="34" charset="0"/>
              </a:rPr>
              <a:t>The trial results indicate the layout change was </a:t>
            </a:r>
            <a:r>
              <a:rPr lang="en-US" sz="2000" b="1" dirty="0">
                <a:latin typeface="Calibri" panose="020F0502020204030204" pitchFamily="34" charset="0"/>
                <a:ea typeface="Calibri" panose="020F0502020204030204" pitchFamily="34" charset="0"/>
                <a:cs typeface="Calibri" panose="020F0502020204030204" pitchFamily="34" charset="0"/>
              </a:rPr>
              <a:t>successful</a:t>
            </a:r>
            <a:r>
              <a:rPr lang="en-US" sz="2000" dirty="0">
                <a:latin typeface="Calibri" panose="020F0502020204030204" pitchFamily="34" charset="0"/>
                <a:ea typeface="Calibri" panose="020F0502020204030204" pitchFamily="34" charset="0"/>
                <a:cs typeface="Calibri" panose="020F0502020204030204" pitchFamily="34" charset="0"/>
              </a:rPr>
              <a:t> and could be expanded to additional stores.</a:t>
            </a:r>
          </a:p>
          <a:p>
            <a:endParaRPr lang="en-AU" sz="20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6365</TotalTime>
  <Words>670</Words>
  <Application>Microsoft Office PowerPoint</Application>
  <PresentationFormat>Widescreen</PresentationFormat>
  <Paragraphs>53</Paragraphs>
  <Slides>11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Segoe UI Variable Text</vt:lpstr>
      <vt:lpstr>Roboto Light</vt:lpstr>
      <vt:lpstr>Roboto</vt:lpstr>
      <vt:lpstr>Arial</vt:lpstr>
      <vt:lpstr>Roboto Medium</vt:lpstr>
      <vt:lpstr>Calibri</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mukul dimri</cp:lastModifiedBy>
  <cp:revision>465</cp:revision>
  <dcterms:created xsi:type="dcterms:W3CDTF">2018-02-07T23:23:24Z</dcterms:created>
  <dcterms:modified xsi:type="dcterms:W3CDTF">2026-04-01T09:11:07Z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